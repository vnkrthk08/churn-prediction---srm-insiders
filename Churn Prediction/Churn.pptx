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2026-10-11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2026-10-11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2026-10-11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2026-10-11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2026-10-11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2026-10-11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2026-10-11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2026-10-11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2026-10-11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2026-10-11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2026-10-11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2026-10-11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67" y="8467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3757" y="2683414"/>
            <a:ext cx="6784486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rPr dirty="0"/>
              <a:t>Customer Churn Prediction</a:t>
            </a:r>
          </a:p>
          <a:p>
            <a:pPr algn="ctr">
              <a:defRPr sz="2800">
                <a:solidFill>
                  <a:srgbClr val="DDDDDD"/>
                </a:solidFill>
              </a:defRPr>
            </a:pPr>
            <a:r>
              <a:rPr dirty="0"/>
              <a:t>Random Forest vs </a:t>
            </a:r>
            <a:r>
              <a:rPr dirty="0" err="1"/>
              <a:t>XGBoost</a:t>
            </a:r>
            <a:endParaRPr dirty="0"/>
          </a:p>
          <a:p>
            <a:pPr algn="ctr">
              <a:defRPr sz="1800">
                <a:solidFill>
                  <a:srgbClr val="DDDDDD"/>
                </a:solidFill>
              </a:defRPr>
            </a:pPr>
            <a:r>
              <a:rPr lang="en-US" dirty="0"/>
              <a:t>Vinay Kartheek |AIML – SRM INSIDERS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6400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• Churn = a customer cancelling their subscription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• Keeping a customer is far cheaper than acquiring a new one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• Goal: predict which customers are likely to leave, so the business can act early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• Task: train Random Forest and </a:t>
            </a:r>
            <a:r>
              <a:rPr dirty="0" err="1"/>
              <a:t>XGBoost</a:t>
            </a:r>
            <a:r>
              <a:rPr dirty="0"/>
              <a:t> on the same data and compare them</a:t>
            </a:r>
            <a:endParaRPr lang="en-US" dirty="0"/>
          </a:p>
          <a:p>
            <a:pPr>
              <a:spcAft>
                <a:spcPts val="1200"/>
              </a:spcAft>
              <a:defRPr sz="2000"/>
            </a:pPr>
            <a:r>
              <a:rPr lang="en-US" dirty="0"/>
              <a:t>What is Churn? </a:t>
            </a:r>
          </a:p>
          <a:p>
            <a:pPr>
              <a:spcAft>
                <a:spcPts val="1200"/>
              </a:spcAft>
              <a:defRPr sz="2000"/>
            </a:pPr>
            <a:r>
              <a:rPr lang="en-US" dirty="0"/>
              <a:t>Predicting churn is typically treated as a supervised binary classification task. The target variable is categorical, usually labeled as </a:t>
            </a:r>
            <a:r>
              <a:rPr lang="en-US" sz="2000" dirty="0"/>
              <a:t>1</a:t>
            </a:r>
            <a:r>
              <a:rPr lang="en-US" dirty="0"/>
              <a:t> (the customer leaves) or </a:t>
            </a:r>
            <a:r>
              <a:rPr lang="en-US" sz="2000" dirty="0"/>
              <a:t>0</a:t>
            </a:r>
            <a:r>
              <a:rPr lang="en-US" dirty="0"/>
              <a:t> (the customer stays).</a:t>
            </a:r>
          </a:p>
          <a:p>
            <a:pPr>
              <a:spcAft>
                <a:spcPts val="1200"/>
              </a:spcAft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Dataset: IBM Telco Customer Churn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6400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a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46304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rPr dirty="0"/>
              <a:t>• 7,043 customers, 20 input columns</a:t>
            </a:r>
            <a:r>
              <a:rPr lang="en-US" dirty="0"/>
              <a:t>, target = Churn (Yes/No)</a:t>
            </a:r>
          </a:p>
          <a:p>
            <a:pPr>
              <a:spcAft>
                <a:spcPts val="1200"/>
              </a:spcAft>
              <a:defRPr sz="1700"/>
            </a:pPr>
            <a:r>
              <a:rPr dirty="0"/>
              <a:t>• Columns: contract type, tenure, monthly &amp; total charges, internet/phone services, payment method</a:t>
            </a:r>
          </a:p>
          <a:p>
            <a:pPr>
              <a:spcAft>
                <a:spcPts val="1200"/>
              </a:spcAft>
              <a:defRPr sz="1700"/>
            </a:pPr>
            <a:r>
              <a:rPr dirty="0"/>
              <a:t>• Imbalanced: 26.5% churn, 73.5% stay</a:t>
            </a:r>
          </a:p>
          <a:p>
            <a:pPr>
              <a:spcAft>
                <a:spcPts val="1200"/>
              </a:spcAft>
              <a:defRPr sz="1700"/>
            </a:pPr>
            <a:r>
              <a:rPr dirty="0"/>
              <a:t>• Month-to-month contracts churn far more than 1- or 2-year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Preprocessing &amp;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6400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TotalCharges stored as text → converted to number; 11 blanks (new customers) set to 0</a:t>
            </a:r>
          </a:p>
          <a:p>
            <a:pPr>
              <a:spcAft>
                <a:spcPts val="1200"/>
              </a:spcAft>
              <a:defRPr sz="2000"/>
            </a:pPr>
            <a:r>
              <a:t>• Dropped customerID (no predictive value)</a:t>
            </a:r>
          </a:p>
          <a:p>
            <a:pPr>
              <a:spcAft>
                <a:spcPts val="1200"/>
              </a:spcAft>
              <a:defRPr sz="2000"/>
            </a:pPr>
            <a:r>
              <a:t>• One-hot encoded categorical columns → 30 features</a:t>
            </a:r>
          </a:p>
          <a:p>
            <a:pPr>
              <a:spcAft>
                <a:spcPts val="1200"/>
              </a:spcAft>
              <a:defRPr sz="2000"/>
            </a:pPr>
            <a:r>
              <a:t>• Stratified 80/20 split, so train and test keep the same 26.5% churn ratio</a:t>
            </a:r>
          </a:p>
          <a:p>
            <a:pPr>
              <a:spcAft>
                <a:spcPts val="1200"/>
              </a:spcAft>
              <a:defRPr sz="2000"/>
            </a:pPr>
            <a:r>
              <a:t>• Tuning: RandomizedSearchCV, 20 trials, 5-fold stratified CV, optimise ROC-AUC</a:t>
            </a:r>
          </a:p>
          <a:p>
            <a:pPr>
              <a:spcAft>
                <a:spcPts val="1200"/>
              </a:spcAft>
              <a:defRPr sz="2000"/>
            </a:pPr>
            <a:r>
              <a:t>• Imbalance: class_weight='balanced' (RF), scale_pos_weight≈2.77 (XGBoost)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How the Two Models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6400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Random Forest (bagging): many deep trees trained independently on random samples and random feature subsets; final vote is averaged → mainly reduces variance</a:t>
            </a:r>
          </a:p>
          <a:p>
            <a:pPr>
              <a:spcAft>
                <a:spcPts val="1200"/>
              </a:spcAft>
              <a:defRPr sz="2000"/>
            </a:pPr>
            <a:r>
              <a:t>• XGBoost (boosting): shallow trees built one after another; each new tree fixes the errors of the previous ones → mainly reduces bias</a:t>
            </a:r>
          </a:p>
          <a:p>
            <a:pPr>
              <a:spcAft>
                <a:spcPts val="1200"/>
              </a:spcAft>
              <a:defRPr sz="2000"/>
            </a:pPr>
            <a:r>
              <a:t>• XGBoost adds L1/L2 regularisation, learning-rate shrinkage, and row/column subsampling to control overfitting</a:t>
            </a:r>
          </a:p>
          <a:p>
            <a:pPr>
              <a:spcAft>
                <a:spcPts val="1200"/>
              </a:spcAft>
              <a:defRPr sz="2000"/>
            </a:pPr>
            <a:r>
              <a:t>• Best RF: 200 trees, max_depth 8, min_samples_leaf 5</a:t>
            </a:r>
          </a:p>
          <a:p>
            <a:pPr>
              <a:spcAft>
                <a:spcPts val="1200"/>
              </a:spcAft>
              <a:defRPr sz="2000"/>
            </a:pPr>
            <a:r>
              <a:t>• Best XGBoost: 500 trees, max_depth 4, learning_rate 0.01, subsample 0.8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Results (Test Set, 1,409 customers)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6400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852160" cy="32918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5120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XGBoost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0.749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0.517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0.802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0.629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0.846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CV 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0.849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Tuning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81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16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ROC Curves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6400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486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46304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• Both curves almost overlap</a:t>
            </a:r>
          </a:p>
          <a:p>
            <a:pPr>
              <a:spcAft>
                <a:spcPts val="1200"/>
              </a:spcAft>
              <a:defRPr sz="1700"/>
            </a:pPr>
            <a:r>
              <a:t>• XGBoost AUC 0.846 vs RF 0.844</a:t>
            </a:r>
          </a:p>
          <a:p>
            <a:pPr>
              <a:spcAft>
                <a:spcPts val="1200"/>
              </a:spcAft>
              <a:defRPr sz="1700"/>
            </a:pPr>
            <a:r>
              <a:t>• AUC is threshold-independent, so it is the fairest ranking metric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Confusion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6400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Feature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6400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105156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Why XGBoost Came Out (Slightly) Ahead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6400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Higher ROC-AUC on both cross-validation (0.849 vs 0.848) and the test set (0.846 vs 0.844), so the edge is consistent, not luck of one split</a:t>
            </a:r>
          </a:p>
          <a:p>
            <a:pPr>
              <a:spcAft>
                <a:spcPts val="1200"/>
              </a:spcAft>
              <a:defRPr sz="2000"/>
            </a:pPr>
            <a:r>
              <a:t>• Boosting corrects mistakes sequentially, so it captures the borderline customers RF averages over</a:t>
            </a:r>
          </a:p>
          <a:p>
            <a:pPr>
              <a:spcAft>
                <a:spcPts val="1200"/>
              </a:spcAft>
              <a:defRPr sz="2000"/>
            </a:pPr>
            <a:r>
              <a:t>• Regularisation + small learning rate (0.01) with shallow trees (depth 4) generalises well on 7k rows</a:t>
            </a:r>
          </a:p>
          <a:p>
            <a:pPr>
              <a:spcAft>
                <a:spcPts val="1200"/>
              </a:spcAft>
              <a:defRPr sz="2000"/>
            </a:pPr>
            <a:r>
              <a:t>• About 5x faster to tune (16 s vs 81 s) because shallow trees are cheap and XGBoost is highly optimised</a:t>
            </a:r>
          </a:p>
          <a:p>
            <a:pPr>
              <a:spcAft>
                <a:spcPts val="1200"/>
              </a:spcAft>
              <a:defRPr sz="2000"/>
            </a:pPr>
            <a:r>
              <a:t>• Honest note: RF is marginally better on accuracy/F1 at the 0.5 threshold; the gap is tiny because a few strong features (contract, tenure, charges) dominate, so both models hit a similar ceiling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6400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• Pick </a:t>
            </a:r>
            <a:r>
              <a:rPr dirty="0" err="1"/>
              <a:t>XGBoost</a:t>
            </a:r>
            <a:r>
              <a:rPr dirty="0"/>
              <a:t>: better ranking (AUC), faster, more tunable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• Both models catch ~80% of churners, useful for a retention campaig</a:t>
            </a:r>
            <a:r>
              <a:rPr lang="en-US" dirty="0"/>
              <a:t>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614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 Bathla</cp:lastModifiedBy>
  <cp:revision>3</cp:revision>
  <dcterms:created xsi:type="dcterms:W3CDTF">2013-01-27T09:14:16Z</dcterms:created>
  <dcterms:modified xsi:type="dcterms:W3CDTF">2026-10-11T13:07:20Z</dcterms:modified>
  <cp:category/>
</cp:coreProperties>
</file>